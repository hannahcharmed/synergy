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7C4DBD">
              <a:alpha val="15000"/>
            </a:srgbClr>
          </a:solidFill>
          <a:ln w="12700">
            <a:solidFill>
              <a:srgbClr val="7C4DBD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D4A843">
              <a:alpha val="12000"/>
            </a:srgbClr>
          </a:solidFill>
          <a:ln w="12700">
            <a:solidFill>
              <a:srgbClr val="D4A843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502920"/>
            <a:ext cx="1280160" cy="1280160"/>
          </a:xfrm>
          <a:prstGeom prst="ellipse">
            <a:avLst/>
          </a:prstGeom>
          <a:solidFill>
            <a:srgbClr val="7C4DBD">
              <a:alpha val="70000"/>
            </a:srgbClr>
          </a:solidFill>
          <a:ln w="19050">
            <a:solidFill>
              <a:srgbClr val="C9A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5486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FF"/>
                </a:solidFill>
              </a:rPr>
              <a:t>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</a:rPr>
              <a:t>SYNERGY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200" kern="0" dirty="0">
                <a:solidFill>
                  <a:srgbClr val="C9A8FF"/>
                </a:solidFill>
              </a:rPr>
              <a:t>The AI-Powered Astrology Dating App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0" y="3246120"/>
            <a:ext cx="2194560" cy="228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9A8FF"/>
                </a:solidFill>
              </a:rPr>
              <a:t>Connecting people through cosmic compatibility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200" kern="0" dirty="0">
                <a:solidFill>
                  <a:srgbClr val="8B6DB8"/>
                </a:solidFill>
              </a:rPr>
              <a:t>INVESTOR PRESENTATION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4DBD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0A2E"/>
                </a:solidFill>
              </a:rPr>
              <a:t>Dating apps have lost the magic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8100000">
              <a:srgbClr val="7c4db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64008" cy="13716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Superficial matching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Swiping on looks alone leaves users feeling hollow and burnt out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8100000">
              <a:srgbClr val="7c4dbd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64008" cy="13716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6276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Zero retention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28032" y="193852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73% of dating app users quit within 3 months — engagement collapses after novelty wears off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01752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8100000">
              <a:srgbClr val="7c4db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017520"/>
            <a:ext cx="64008" cy="13716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Conversation dead-ends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0352" y="34930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dreaded 'hey' — no shared context means matches go nowhere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101600" dist="25400" dir="8100000">
              <a:srgbClr val="7c4dbd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17520"/>
            <a:ext cx="64008" cy="13716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182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0A2E"/>
                </a:solidFill>
              </a:rPr>
              <a:t>Identity disconnect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28032" y="349300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Apps treat users as data points, not whole people with values, spirituality, and worldview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C4DBD"/>
                </a:solidFill>
              </a:rPr>
              <a:t>Meanwhile, 91% of Gen Z and Millennials check their horoscope regularly. The signal exists — nobody is building on it.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 market hiding in plain sight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1965960" cy="1920240"/>
          </a:xfrm>
          <a:prstGeom prst="rect">
            <a:avLst/>
          </a:prstGeom>
          <a:solidFill>
            <a:srgbClr val="2D1457">
              <a:alpha val="80000"/>
            </a:srgbClr>
          </a:solidFill>
          <a:ln w="9525">
            <a:solidFill>
              <a:srgbClr val="7C4DBD">
                <a:alpha val="6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$9.9B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Global dating app market by 2028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14600" y="1371600"/>
            <a:ext cx="1965960" cy="1920240"/>
          </a:xfrm>
          <a:prstGeom prst="rect">
            <a:avLst/>
          </a:prstGeom>
          <a:solidFill>
            <a:srgbClr val="2D1457">
              <a:alpha val="80000"/>
            </a:srgbClr>
          </a:solidFill>
          <a:ln w="9525">
            <a:solidFill>
              <a:srgbClr val="7C4DBD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91%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0604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Gen Z who engage with astrology content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965960" cy="1920240"/>
          </a:xfrm>
          <a:prstGeom prst="rect">
            <a:avLst/>
          </a:prstGeom>
          <a:solidFill>
            <a:srgbClr val="2D1457">
              <a:alpha val="80000"/>
            </a:srgbClr>
          </a:solidFill>
          <a:ln w="9525">
            <a:solidFill>
              <a:srgbClr val="7C4DBD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3.4x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5488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Higher retention in niche interest apps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12280" y="1371600"/>
            <a:ext cx="1965960" cy="1920240"/>
          </a:xfrm>
          <a:prstGeom prst="rect">
            <a:avLst/>
          </a:prstGeom>
          <a:solidFill>
            <a:srgbClr val="2D1457">
              <a:alpha val="80000"/>
            </a:srgbClr>
          </a:solidFill>
          <a:ln w="9525">
            <a:solidFill>
              <a:srgbClr val="7C4DBD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12280" y="15087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A843"/>
                </a:solidFill>
              </a:rPr>
              <a:t>£40M+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903720" y="2331720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Co-Star annual revenue — astrology alone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474720"/>
            <a:ext cx="8412480" cy="1325880"/>
          </a:xfrm>
          <a:prstGeom prst="rect">
            <a:avLst/>
          </a:prstGeom>
          <a:solidFill>
            <a:srgbClr val="7C4DBD">
              <a:alpha val="18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584448"/>
            <a:ext cx="7955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The intersection of dating ($9.9B) and spirituality/wellness ($6.3B) is entirely unserved by a product designed for it from the ground up. Synergy owns that intersection.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</a:rPr>
              <a:t>Synergy — cosmic intelligence meets human connection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93776" y="1600200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" y="15727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BD"/>
                </a:solidFill>
              </a:rPr>
              <a:t>✦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2688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Full synastry matching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93776" y="19659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Full birth chart analysis across 12 planets and aspects — not just sun signs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4630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74136" y="1600200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74136" y="15727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BD"/>
                </a:solidFill>
              </a:rPr>
              <a:t>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3048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Daily cosmic feed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374136" y="19659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Personalised horoscopes that highlight which existing matches are most aligned today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54496" y="1600200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5727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BD"/>
                </a:solidFill>
              </a:rPr>
              <a:t>♾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93408" y="16093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AI icebreakers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54496" y="19659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GPT-generated conversation starters built from both users' chart data — no more 'hey'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" y="3200400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31729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BD"/>
                </a:solidFill>
              </a:rPr>
              <a:t>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2688" y="3209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Ritual engine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3776" y="35661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New moon intentions, Venus season events, lunar cycle challenges drive daily opens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30632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374136" y="3200400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74136" y="31729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BD"/>
                </a:solidFill>
              </a:rPr>
              <a:t>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13048" y="3209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Synastry deep dives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3374136" y="35661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Paid compatibility reports — a premium product users actually want to buy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3063240"/>
            <a:ext cx="2697480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54496" y="3200400"/>
            <a:ext cx="365760" cy="365760"/>
          </a:xfrm>
          <a:prstGeom prst="ellipse">
            <a:avLst/>
          </a:prstGeom>
          <a:solidFill>
            <a:srgbClr val="EEEDFE"/>
          </a:solidFill>
          <a:ln w="12700">
            <a:solidFill>
              <a:srgbClr val="EEED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1729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4DBD"/>
                </a:solidFill>
              </a:rPr>
              <a:t>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693408" y="320954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0A2E"/>
                </a:solidFill>
              </a:rPr>
              <a:t>Cosmic score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254496" y="3566160"/>
            <a:ext cx="24871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 live compatibility score that shifts with planetary transits, creating urgency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MATCHING ALGORITHM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Multi-layer cosmic intelligence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3258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6DB8"/>
                </a:solidFill>
              </a:rPr>
              <a:t>Layer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15270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Synastry core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128016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828800"/>
            <a:ext cx="1645920" cy="128016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830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C4DBD"/>
                </a:solidFill>
              </a:rPr>
              <a:t>40% weight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19842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Venus aspects, Moon harmony, Mars compatibility, Rising sign alignment, Sun trine/sextile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2402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6DB8"/>
                </a:solidFill>
              </a:rPr>
              <a:t>Layer 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414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Elemental balance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743200"/>
            <a:ext cx="4114800" cy="128016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43200"/>
            <a:ext cx="1028700" cy="128016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26280" y="26974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25% weight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65760" y="28986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Fire/Water/Earth/Air distribution across both charts — opposites attract vs resonance modes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31546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6DB8"/>
                </a:solidFill>
              </a:rPr>
              <a:t>Layer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Intent alignment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657600"/>
            <a:ext cx="4114800" cy="128016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3657600"/>
            <a:ext cx="822960" cy="1280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6118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20% weight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8130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Relationship goals, attachment style, values — standard profile data weighted alongside chart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406908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8B6DB8"/>
                </a:solidFill>
              </a:rPr>
              <a:t>Layer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65760" y="42702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Transit modifiers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4572000"/>
            <a:ext cx="4114800" cy="128016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4572000"/>
            <a:ext cx="617220" cy="128016"/>
          </a:xfrm>
          <a:prstGeom prst="rect">
            <a:avLst/>
          </a:prstGeom>
          <a:solidFill>
            <a:srgbClr val="E45B3D"/>
          </a:solidFill>
          <a:ln w="12700">
            <a:solidFill>
              <a:srgbClr val="E45B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26280" y="452628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5B3D"/>
                </a:solidFill>
              </a:rPr>
              <a:t>15% weight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472744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Real-time planetary positions shift scores daily — Venus direct boosts all love matches by up to 12%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94960" y="1280160"/>
            <a:ext cx="3474720" cy="3566160"/>
          </a:xfrm>
          <a:prstGeom prst="rect">
            <a:avLst/>
          </a:prstGeom>
          <a:solidFill>
            <a:srgbClr val="2D1457">
              <a:alpha val="70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7840" y="1417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9A8FF"/>
                </a:solidFill>
              </a:rPr>
              <a:t>Score example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77840" y="17373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D4A843"/>
                </a:solidFill>
              </a:rPr>
              <a:t>92</a:t>
            </a:r>
            <a:endParaRPr lang="en-US" sz="7200" dirty="0"/>
          </a:p>
        </p:txBody>
      </p:sp>
      <p:sp>
        <p:nvSpPr>
          <p:cNvPr id="31" name="Text 29"/>
          <p:cNvSpPr/>
          <p:nvPr/>
        </p:nvSpPr>
        <p:spPr>
          <a:xfrm>
            <a:off x="5577840" y="27249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9A8FF"/>
                </a:solidFill>
              </a:rPr>
              <a:t>Cosmic Match Score™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063240"/>
            <a:ext cx="3017520" cy="548640"/>
          </a:xfrm>
          <a:prstGeom prst="rect">
            <a:avLst/>
          </a:prstGeom>
          <a:solidFill>
            <a:srgbClr val="251050"/>
          </a:solidFill>
          <a:ln w="12700">
            <a:solidFill>
              <a:srgbClr val="2510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7840" y="3063240"/>
            <a:ext cx="3017520" cy="54864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Venus trine Venus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Moon in Scorpio harmony  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Rising sign complement  ✓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77840" y="3703320"/>
            <a:ext cx="3017520" cy="5029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6DB8"/>
                </a:solidFill>
              </a:rPr>
              <a:t>Transit boost active: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+7 pts — Venus in Libra (your 7th house)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4251960"/>
            <a:ext cx="3017520" cy="411480"/>
          </a:xfrm>
          <a:prstGeom prst="rect">
            <a:avLst/>
          </a:prstGeom>
          <a:solidFill>
            <a:srgbClr val="7C4DBD">
              <a:alpha val="60000"/>
            </a:srgbClr>
          </a:solidFill>
          <a:ln w="12700">
            <a:solidFill>
              <a:srgbClr val="7C4DBD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577840" y="4251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</a:rPr>
              <a:t>Score refreshes every 24 hrs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4DBD"/>
                </a:solidFill>
              </a:rPr>
              <a:t>ONBOARDING FLOW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0A2E"/>
                </a:solidFill>
              </a:rPr>
              <a:t>Seven steps that build investment before the first swipe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04672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Welcome ritual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1636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Animated cosmic intro sets tone — users feel they're entering something meaningful, not another app store clone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39496" y="1737360"/>
            <a:ext cx="0" cy="493776"/>
          </a:xfrm>
          <a:prstGeom prst="line">
            <a:avLst/>
          </a:prstGeom>
          <a:noFill/>
          <a:ln w="12700">
            <a:solidFill>
              <a:srgbClr val="DDD6F3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365760" y="2304288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04672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Birth chart capture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5694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Name, DOB, birth time, birth location. The extra fields signal depth and create investment — users who complete this churn 60% less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9496" y="2670048"/>
            <a:ext cx="0" cy="493776"/>
          </a:xfrm>
          <a:prstGeom prst="line">
            <a:avLst/>
          </a:prstGeom>
          <a:noFill/>
          <a:ln w="12700">
            <a:solidFill>
              <a:srgbClr val="DDD6F3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65760" y="3236976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Chart reveal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4672" y="3502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Full animated natal chart reveal with AI narration. Users learn something about themselves before they see a single match — immediate value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39496" y="3602736"/>
            <a:ext cx="0" cy="493776"/>
          </a:xfrm>
          <a:prstGeom prst="line">
            <a:avLst/>
          </a:prstGeom>
          <a:noFill/>
          <a:ln w="12700">
            <a:solidFill>
              <a:srgbClr val="DDD6F3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65760" y="4169664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169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4672" y="41696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Relationship intention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4672" y="4434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Not 'casual/serious' — instead: 'what are you calling in?' framing. Sets emotional tone and feeds the intent layer of the algorithm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1371600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39512" y="13716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Photo + bio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39512" y="1636776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Standard profile setup, but prompts are astrology-adjacent: 'What do people always get wrong about your sign?'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974336" y="1737360"/>
            <a:ext cx="0" cy="493776"/>
          </a:xfrm>
          <a:prstGeom prst="line">
            <a:avLst/>
          </a:prstGeom>
          <a:noFill/>
          <a:ln w="12700">
            <a:solidFill>
              <a:srgbClr val="DDD6F3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4800600" y="2304288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304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39512" y="23042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Daily ritual opt-in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39512" y="256946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Push notification permission framed as 'receive your daily cosmic reading' — dramatically higher opt-in than generic 'allow notifications'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974336" y="2670048"/>
            <a:ext cx="0" cy="493776"/>
          </a:xfrm>
          <a:prstGeom prst="line">
            <a:avLst/>
          </a:prstGeom>
          <a:noFill/>
          <a:ln w="12700">
            <a:solidFill>
              <a:srgbClr val="DDD6F3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4800600" y="3236976"/>
            <a:ext cx="347472" cy="347472"/>
          </a:xfrm>
          <a:prstGeom prst="ellipse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07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239512" y="32369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0A2E"/>
                </a:solidFill>
              </a:rPr>
              <a:t>First match reveal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39512" y="35021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Top 3 cosmic matches presented with full compatibility breakdown — immediate payoff, instant hook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C4DBD"/>
                </a:solidFill>
              </a:rPr>
              <a:t>Avg onboarding completion: target 68% (industry avg 41%)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MONETISATION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Three revenue streams, stacked for growth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2651760" cy="3520440"/>
          </a:xfrm>
          <a:prstGeom prst="rect">
            <a:avLst/>
          </a:prstGeom>
          <a:solidFill>
            <a:srgbClr val="2D1457">
              <a:alpha val="75000"/>
            </a:srgbClr>
          </a:solidFill>
          <a:ln w="9525">
            <a:solidFill>
              <a:srgbClr val="7C4DBD">
                <a:alpha val="4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FF"/>
                </a:solidFill>
              </a:rPr>
              <a:t>FREE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Stardust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DB8"/>
                </a:solidFill>
              </a:rPr>
              <a:t>£0 / month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✓  Sun sign matching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✓  5 daily swipes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236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✓  Daily horoscope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621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✓  Basic birth chart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✓  Cosmic icebreakers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90672" y="1143000"/>
            <a:ext cx="2834640" cy="3749040"/>
          </a:xfrm>
          <a:prstGeom prst="rect">
            <a:avLst/>
          </a:prstGeom>
          <a:solidFill>
            <a:srgbClr val="7C4DBD">
              <a:alpha val="85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90672" y="1143000"/>
            <a:ext cx="2834640" cy="384048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143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50" kern="0" dirty="0">
                <a:solidFill>
                  <a:srgbClr val="1A0A2E"/>
                </a:solidFill>
              </a:rPr>
              <a:t>MOST POPULAR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090672" y="1572768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Cosmic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090672" y="19842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A8FF"/>
                </a:solidFill>
              </a:rPr>
              <a:t>£14.99 / month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18688" y="235915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Full synastry matching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18688" y="27066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Unlimited swipes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218688" y="30540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Transit-boosted scores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218688" y="34015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Who liked you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18688" y="37490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AI chart narration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18688" y="40965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Ritual challenges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18688" y="44439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★  Partner compatibility PDF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53328" y="1325880"/>
            <a:ext cx="2651760" cy="3520440"/>
          </a:xfrm>
          <a:prstGeom prst="rect">
            <a:avLst/>
          </a:prstGeom>
          <a:solidFill>
            <a:srgbClr val="2D1457">
              <a:alpha val="75000"/>
            </a:srgbClr>
          </a:solidFill>
          <a:ln w="9525">
            <a:solidFill>
              <a:srgbClr val="7C4DBD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53328" y="14173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8FF"/>
                </a:solidFill>
              </a:rPr>
              <a:t>PREMIUM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53328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Oracle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053328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DB8"/>
                </a:solidFill>
              </a:rPr>
              <a:t>£34.99 / month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99632" y="2468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✦  Everything in Cosmic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199632" y="28529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✦  Live astrologer chat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199632" y="32369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✦  Annual forecast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3621024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✦  Compatibility vault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199632" y="4005072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✦  Priority matching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199632" y="4389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A8FF"/>
                </a:solidFill>
              </a:rPr>
              <a:t>✦  Exclusive events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2004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6DB8"/>
                </a:solidFill>
              </a:rPr>
              <a:t>+ One-off synastry reports £9.99 · Astrologer sessions £29 · Brand partnerships (wellness, crystals, retreat brands)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FINANCIAL MODEL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</a:rPr>
              <a:t>Unit economics &amp; 3-year projection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1993392" cy="960120"/>
          </a:xfrm>
          <a:prstGeom prst="rect">
            <a:avLst/>
          </a:prstGeom>
          <a:solidFill>
            <a:srgbClr val="EEEDFE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533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4DBD"/>
                </a:solidFill>
              </a:rPr>
              <a:t>£12.40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670"/>
                </a:solidFill>
              </a:rPr>
              <a:t>Target ARPU / month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42032" y="1298448"/>
            <a:ext cx="1993392" cy="960120"/>
          </a:xfrm>
          <a:prstGeom prst="rect">
            <a:avLst/>
          </a:prstGeom>
          <a:solidFill>
            <a:srgbClr val="EEEDFE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42032" y="13533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4DBD"/>
                </a:solidFill>
              </a:rPr>
              <a:t>£3.20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42032" y="1828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670"/>
                </a:solidFill>
              </a:rPr>
              <a:t>CAC (paid social)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18304" y="1298448"/>
            <a:ext cx="1993392" cy="960120"/>
          </a:xfrm>
          <a:prstGeom prst="rect">
            <a:avLst/>
          </a:prstGeom>
          <a:solidFill>
            <a:srgbClr val="EEEDFE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8304" y="13533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4DBD"/>
                </a:solidFill>
              </a:rPr>
              <a:t>14 mo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718304" y="1828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670"/>
                </a:solidFill>
              </a:rPr>
              <a:t>Avg subscription LTV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894576" y="1298448"/>
            <a:ext cx="1993392" cy="960120"/>
          </a:xfrm>
          <a:prstGeom prst="rect">
            <a:avLst/>
          </a:prstGeom>
          <a:solidFill>
            <a:srgbClr val="EEEDFE"/>
          </a:solidFill>
          <a:ln w="6350">
            <a:solidFill>
              <a:srgbClr val="DDD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94576" y="1353312"/>
            <a:ext cx="19933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C4DBD"/>
                </a:solidFill>
              </a:rPr>
              <a:t>£170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894576" y="182880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3670"/>
                </a:solidFill>
              </a:rPr>
              <a:t>LTV per user</a:t>
            </a:r>
            <a:endParaRPr lang="en-US" sz="9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395728"/>
          <a:ext cx="8412480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2148840"/>
                <a:gridCol w="2148840"/>
                <a:gridCol w="2103120"/>
              </a:tblGrid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B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4DBD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0A2E"/>
                          </a:solidFill>
                        </a:rPr>
                        <a:t>Total users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28,000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140,000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520,000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0A2E"/>
                          </a:solidFill>
                        </a:rPr>
                        <a:t>Paid conversion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18%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22%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26%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0A2E"/>
                          </a:solidFill>
                        </a:rPr>
                        <a:t>Paid users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5,040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30,800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135,200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0A2E"/>
                          </a:solidFill>
                        </a:rPr>
                        <a:t>Subscription revenue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£748K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£4.57M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£20.1M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0A2E"/>
                          </a:solidFill>
                        </a:rPr>
                        <a:t>One-off / brand rev.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£92K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£610K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64748B"/>
                          </a:solidFill>
                        </a:rPr>
                        <a:t>£2.8M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4DBD"/>
                          </a:solidFill>
                        </a:rPr>
                        <a:t>Total revenue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4DBD"/>
                          </a:solidFill>
                        </a:rPr>
                        <a:t>£840K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4DBD"/>
                          </a:solidFill>
                        </a:rPr>
                        <a:t>£5.18M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C4DBD"/>
                          </a:solidFill>
                        </a:rPr>
                        <a:t>£22.9M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8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We sit at an unclaimed intersection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12700">
            <a:solidFill>
              <a:srgbClr val="4A367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234440"/>
            <a:ext cx="0" cy="3657600"/>
          </a:xfrm>
          <a:prstGeom prst="line">
            <a:avLst/>
          </a:prstGeom>
          <a:noFill/>
          <a:ln w="12700">
            <a:solidFill>
              <a:srgbClr val="4A36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1089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← Casual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132320" y="310896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Meaningful →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645152" y="44805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Generic ↓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45152" y="12984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6DB8"/>
                </a:solidFill>
              </a:rPr>
              <a:t>↑ Niche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755648" y="3218688"/>
            <a:ext cx="329184" cy="329184"/>
          </a:xfrm>
          <a:prstGeom prst="ellipse">
            <a:avLst/>
          </a:prstGeom>
          <a:solidFill>
            <a:srgbClr val="E45B3D">
              <a:alpha val="70000"/>
            </a:srgbClr>
          </a:solidFill>
          <a:ln w="12700">
            <a:solidFill>
              <a:srgbClr val="E45B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5661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45B3D"/>
                </a:solidFill>
              </a:rPr>
              <a:t>Tinder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78608" y="2578608"/>
            <a:ext cx="329184" cy="329184"/>
          </a:xfrm>
          <a:prstGeom prst="ellipse">
            <a:avLst/>
          </a:prstGeom>
          <a:solidFill>
            <a:srgbClr val="D4A843">
              <a:alpha val="70000"/>
            </a:srgbClr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9260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A843"/>
                </a:solidFill>
              </a:rPr>
              <a:t>Bumble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779008" y="2487168"/>
            <a:ext cx="329184" cy="329184"/>
          </a:xfrm>
          <a:prstGeom prst="ellipse">
            <a:avLst/>
          </a:prstGeom>
          <a:solidFill>
            <a:srgbClr val="5EEAD4">
              <a:alpha val="7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0" y="2834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</a:rPr>
              <a:t>Hinge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19088" y="1481328"/>
            <a:ext cx="329184" cy="329184"/>
          </a:xfrm>
          <a:prstGeom prst="ellipse">
            <a:avLst/>
          </a:prstGeom>
          <a:solidFill>
            <a:srgbClr val="C9A8FF">
              <a:alpha val="70000"/>
            </a:srgbClr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82880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Co-Star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70448" y="1344168"/>
            <a:ext cx="329184" cy="329184"/>
          </a:xfrm>
          <a:prstGeom prst="ellipse">
            <a:avLst/>
          </a:prstGeom>
          <a:solidFill>
            <a:srgbClr val="C9A8FF">
              <a:alpha val="70000"/>
            </a:srgbClr>
          </a:solidFill>
          <a:ln w="12700">
            <a:solidFill>
              <a:srgbClr val="C9A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16916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FF"/>
                </a:solidFill>
              </a:rPr>
              <a:t>The Pattern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76288" y="1161288"/>
            <a:ext cx="512064" cy="512064"/>
          </a:xfrm>
          <a:prstGeom prst="ellipse">
            <a:avLst/>
          </a:prstGeom>
          <a:solidFill>
            <a:srgbClr val="D4A843">
              <a:alpha val="80000"/>
            </a:srgbClr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11612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✦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37960" y="196596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SYNERGY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7C4DBD">
              <a:alpha val="30000"/>
            </a:srgbClr>
          </a:solidFill>
          <a:ln w="9525">
            <a:solidFill>
              <a:srgbClr val="7C4DBD">
                <a:alpha val="6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453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Co-Star &amp; The Pattern have the astrology users. Tinder has the dating users. Nobody has both. Synergy is first.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C4DBD"/>
                </a:solidFill>
              </a:rPr>
              <a:t>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0A2E"/>
                </a:solidFill>
              </a:rPr>
              <a:t>Community-first, algorithm-amplified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2743200" cy="50292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Phase 1 · Months 1-6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Seed the community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93852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Partner with 15-20 astrology influencers (TikTok/Instagram) — gifted Oracle accounts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2688336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Launch waitlist with referral mechanic: 'unlock your chart reading by inviting 3 friends'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3438144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Beta in London — dense, young, astrology-literate population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418795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PR: 'the dating app that actually uses your whole birth chart'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325880"/>
            <a:ext cx="2743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325880"/>
            <a:ext cx="2743200" cy="50292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01568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Phase 2 · Months 7-12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0156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Ignite retention loops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01568" y="193852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Launch ritual engine — new moon events, Venus season campaigns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01568" y="2688336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Introduce cosmic compatibility stories (shareable, social-native content)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01568" y="3438144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Paid UA on TikTok and Instagram targeting astrology hashtag followers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01568" y="418795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App Store optimisation targeting 'astrology dating', 'birth chart'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1325880"/>
            <a:ext cx="2743200" cy="3566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6F3"/>
            </a:solidFill>
            <a:prstDash val="solid"/>
          </a:ln>
          <a:effectLst>
            <a:outerShdw sx="100000" sy="100000" kx="0" ky="0" algn="bl" rotWithShape="0" blurRad="76200" dist="25400" dir="8100000">
              <a:srgbClr val="7c4dbd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17920" y="1325880"/>
            <a:ext cx="2743200" cy="502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7648" y="13533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</a:rPr>
              <a:t>Phase 3 · Year 2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27648" y="158191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Scale &amp; expand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1938528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Expand to Manchester, Dublin, New York, LA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27648" y="2688336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Launch live astrologer marketplace — opens B2C professional revenue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327648" y="3438144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Brand partnership programme: wellness, crystal, retreat brands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27648" y="4187952"/>
            <a:ext cx="2523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</a:rPr>
              <a:t>Explore white-label licensing for complementary apps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Seed round — £1.8M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Product &amp;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29000" y="14173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C4DBD"/>
                </a:solidFill>
              </a:rPr>
              <a:t>£810K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5303520" cy="182880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709928"/>
            <a:ext cx="2386584" cy="182880"/>
          </a:xfrm>
          <a:prstGeom prst="rect">
            <a:avLst/>
          </a:prstGeom>
          <a:solidFill>
            <a:srgbClr val="7C4DBD"/>
          </a:solidFill>
          <a:ln w="12700">
            <a:solidFill>
              <a:srgbClr val="7C4D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2938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6DB8"/>
                </a:solidFill>
              </a:rPr>
              <a:t>2 senior engineers, 1 AI/ML specialist, 1 designer, infrastructure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Marketing &amp; community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29000" y="2286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4A843"/>
                </a:solidFill>
              </a:rPr>
              <a:t>£540K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578608"/>
            <a:ext cx="5303520" cy="182880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78608"/>
            <a:ext cx="1591056" cy="18288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79806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6DB8"/>
                </a:solidFill>
              </a:rPr>
              <a:t>Influencer partnerships, paid UA, PR, content creation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Operations &amp; legal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1546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£270K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47288"/>
            <a:ext cx="5303520" cy="182880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47288"/>
            <a:ext cx="795528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667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6DB8"/>
                </a:solidFill>
              </a:rPr>
              <a:t>Compliance (GDPR, dating app regulation), team ops, customer support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02336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Reserve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29000" y="4023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8B6DB8"/>
                </a:solidFill>
              </a:rPr>
              <a:t>£180K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5303520" cy="182880"/>
          </a:xfrm>
          <a:prstGeom prst="rect">
            <a:avLst/>
          </a:prstGeom>
          <a:solidFill>
            <a:srgbClr val="3D2070"/>
          </a:solidFill>
          <a:ln w="12700">
            <a:solidFill>
              <a:srgbClr val="3D2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315968"/>
            <a:ext cx="530352" cy="182880"/>
          </a:xfrm>
          <a:prstGeom prst="rect">
            <a:avLst/>
          </a:prstGeom>
          <a:solidFill>
            <a:srgbClr val="8B6DB8"/>
          </a:solidFill>
          <a:ln w="12700">
            <a:solidFill>
              <a:srgbClr val="8B6DB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3542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6DB8"/>
                </a:solidFill>
              </a:rPr>
              <a:t>12-month runway buffer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43600" y="1325880"/>
            <a:ext cx="2880360" cy="3520440"/>
          </a:xfrm>
          <a:prstGeom prst="rect">
            <a:avLst/>
          </a:prstGeom>
          <a:solidFill>
            <a:srgbClr val="2D1457">
              <a:alpha val="70000"/>
            </a:srgbClr>
          </a:solidFill>
          <a:ln w="9525">
            <a:solidFill>
              <a:srgbClr val="7C4DBD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80760" y="1444752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FF"/>
                </a:solidFill>
              </a:rPr>
              <a:t>18-month milestones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80760" y="1874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Q2 2026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40880" y="18745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Beta launch, London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2130552"/>
            <a:ext cx="0" cy="310896"/>
          </a:xfrm>
          <a:prstGeom prst="line">
            <a:avLst/>
          </a:prstGeom>
          <a:noFill/>
          <a:ln w="9525">
            <a:solidFill>
              <a:srgbClr val="3D207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6080760" y="24414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Q3 2026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040880" y="24414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10K users, influencer push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0" y="2697480"/>
            <a:ext cx="0" cy="310896"/>
          </a:xfrm>
          <a:prstGeom prst="line">
            <a:avLst/>
          </a:prstGeom>
          <a:noFill/>
          <a:ln w="9525">
            <a:solidFill>
              <a:srgbClr val="3D207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080760" y="30083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Q4 2026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040880" y="3008376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28K users, ritual engine live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3264408"/>
            <a:ext cx="0" cy="310896"/>
          </a:xfrm>
          <a:prstGeom prst="line">
            <a:avLst/>
          </a:prstGeom>
          <a:noFill/>
          <a:ln w="9525">
            <a:solidFill>
              <a:srgbClr val="3D207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6080760" y="35753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Q1 2027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35753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Expand to 3 new cities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400800" y="3831336"/>
            <a:ext cx="0" cy="310896"/>
          </a:xfrm>
          <a:prstGeom prst="line">
            <a:avLst/>
          </a:prstGeom>
          <a:noFill/>
          <a:ln w="9525">
            <a:solidFill>
              <a:srgbClr val="3D207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6080760" y="41422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4A843"/>
                </a:solidFill>
              </a:rPr>
              <a:t>Q2 2027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040880" y="4142232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A8FF"/>
                </a:solidFill>
              </a:rPr>
              <a:t>Series A ready — 80K users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-731520"/>
            <a:ext cx="2743200" cy="2743200"/>
          </a:xfrm>
          <a:prstGeom prst="ellipse">
            <a:avLst/>
          </a:prstGeom>
          <a:solidFill>
            <a:srgbClr val="7C4DBD">
              <a:alpha val="12000"/>
            </a:srgbClr>
          </a:solidFill>
          <a:ln w="12700">
            <a:solidFill>
              <a:srgbClr val="7C4DBD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D4A843">
              <a:alpha val="10000"/>
            </a:srgbClr>
          </a:solidFill>
          <a:ln w="12700">
            <a:solidFill>
              <a:srgbClr val="D4A843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931920" y="960120"/>
            <a:ext cx="1280160" cy="1280160"/>
          </a:xfrm>
          <a:prstGeom prst="ellipse">
            <a:avLst/>
          </a:prstGeom>
          <a:solidFill>
            <a:srgbClr val="7C4DBD">
              <a:alpha val="70000"/>
            </a:srgbClr>
          </a:solidFill>
          <a:ln w="19050">
            <a:solidFill>
              <a:srgbClr val="C9A8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1005840"/>
            <a:ext cx="1280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9A8FF"/>
                </a:solidFill>
              </a:rPr>
              <a:t>✦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8FF"/>
                </a:solidFill>
              </a:rPr>
              <a:t>The stars have always guided us.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It's time they guided us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to each other.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74720" y="3840480"/>
            <a:ext cx="2194560" cy="22860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6DB8"/>
                </a:solidFill>
              </a:rPr>
              <a:t>hello@synergy.app  ·  synergy.app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600" kern="0" dirty="0">
                <a:solidFill>
                  <a:srgbClr val="C9A8FF"/>
                </a:solidFill>
              </a:rPr>
              <a:t>SYNERGY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Synergy — Investor Pitch</dc:title>
  <dc:subject>PptxGenJS Presentation</dc:subject>
  <dc:creator>PptxGenJS</dc:creator>
  <cp:lastModifiedBy>PptxGenJS</cp:lastModifiedBy>
  <cp:revision>1</cp:revision>
  <dcterms:created xsi:type="dcterms:W3CDTF">2026-04-08T22:59:30Z</dcterms:created>
  <dcterms:modified xsi:type="dcterms:W3CDTF">2026-04-08T22:59:30Z</dcterms:modified>
</cp:coreProperties>
</file>