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ONBOARDING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 screens designed to build investment before the first swipe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" y="2157984"/>
            <a:ext cx="438912" cy="438912"/>
          </a:xfrm>
          <a:prstGeom prst="oval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-4572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Welcome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09344" y="2157984"/>
            <a:ext cx="438912" cy="438912"/>
          </a:xfrm>
          <a:prstGeom prst="oval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3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Birth chart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80944" y="2157984"/>
            <a:ext cx="438912" cy="438912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09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Chart reveal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52544" y="2157984"/>
            <a:ext cx="438912" cy="438912"/>
          </a:xfrm>
          <a:prstGeom prst="oval">
            <a:avLst/>
          </a:prstGeom>
          <a:solidFill>
            <a:srgbClr val="E45B3D"/>
          </a:solidFill>
          <a:ln w="12700">
            <a:solidFill>
              <a:srgbClr val="E45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08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Intention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24144" y="2157984"/>
            <a:ext cx="438912" cy="438912"/>
          </a:xfrm>
          <a:prstGeom prst="oval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41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Profile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95744" y="2157984"/>
            <a:ext cx="438912" cy="438912"/>
          </a:xfrm>
          <a:prstGeom prst="oval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Rituals opt-in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67344" y="2157984"/>
            <a:ext cx="438912" cy="438912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734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2651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First match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2011680" cy="1554480"/>
          </a:xfrm>
          <a:prstGeom prst="rect">
            <a:avLst/>
          </a:prstGeom>
          <a:solidFill>
            <a:srgbClr val="2D1457">
              <a:alpha val="70000"/>
            </a:srgbClr>
          </a:solidFill>
          <a:ln w="9525">
            <a:solidFill>
              <a:srgbClr val="7C4DBD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</a:rPr>
              <a:t>68%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48640" y="3913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Target completion 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(vs 41% industry avg)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51760" y="3200400"/>
            <a:ext cx="2011680" cy="1554480"/>
          </a:xfrm>
          <a:prstGeom prst="rect">
            <a:avLst/>
          </a:prstGeom>
          <a:solidFill>
            <a:srgbClr val="2D1457">
              <a:alpha val="70000"/>
            </a:srgbClr>
          </a:solidFill>
          <a:ln w="9525">
            <a:solidFill>
              <a:srgbClr val="7C4DBD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</a:rPr>
              <a:t>60%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743200" y="3913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Lower churn for 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who complete birth chart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200400"/>
            <a:ext cx="2011680" cy="1554480"/>
          </a:xfrm>
          <a:prstGeom prst="rect">
            <a:avLst/>
          </a:prstGeom>
          <a:solidFill>
            <a:srgbClr val="2D1457">
              <a:alpha val="70000"/>
            </a:srgbClr>
          </a:solidFill>
          <a:ln w="9525">
            <a:solidFill>
              <a:srgbClr val="7C4DBD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</a:rPr>
              <a:t>3.2x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937760" y="3913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Higher Day-7 retention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vs standard dating apps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3200400"/>
            <a:ext cx="2011680" cy="1554480"/>
          </a:xfrm>
          <a:prstGeom prst="rect">
            <a:avLst/>
          </a:prstGeom>
          <a:solidFill>
            <a:srgbClr val="2D1457">
              <a:alpha val="70000"/>
            </a:srgbClr>
          </a:solidFill>
          <a:ln w="9525">
            <a:solidFill>
              <a:srgbClr val="7C4DBD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</a:rPr>
              <a:t>Step 3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132320" y="3913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Chart reveal = first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'aha moment'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4DBD"/>
                </a:solidFill>
              </a:rPr>
              <a:t>SCREENS 01 —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</a:rPr>
              <a:t>Welcome &amp; Birth Chart Capture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828800" cy="3566160"/>
          </a:xfrm>
          <a:prstGeom prst="roundRect">
            <a:avLst>
              <a:gd name="adj" fmla="val 9000"/>
            </a:avLst>
          </a:prstGeom>
          <a:solidFill>
            <a:srgbClr val="1A0A2E"/>
          </a:solidFill>
          <a:ln w="19050">
            <a:solidFill>
              <a:srgbClr val="3D2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078992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43584"/>
            <a:ext cx="1645920" cy="315468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801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9:41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91640" y="12801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●●●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7200" y="1426464"/>
            <a:ext cx="1645920" cy="237744"/>
          </a:xfrm>
          <a:prstGeom prst="rect">
            <a:avLst/>
          </a:prstGeom>
          <a:solidFill>
            <a:srgbClr val="2D1457"/>
          </a:solidFill>
          <a:ln w="12700">
            <a:solidFill>
              <a:srgbClr val="2D14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44475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FF"/>
                </a:solidFill>
              </a:rPr>
              <a:t>Welcome to Synergy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17373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FF"/>
                </a:solidFill>
              </a:rPr>
              <a:t>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" y="21488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Your cosmic journey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begins here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" y="24688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We use your full birth chart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to find your true matches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30352" y="2340864"/>
            <a:ext cx="1499616" cy="201168"/>
          </a:xfrm>
          <a:prstGeom prst="roundRect">
            <a:avLst>
              <a:gd name="adj" fmla="val 18182"/>
            </a:avLst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408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Begin my chart ✦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0352" y="24688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670"/>
                </a:solidFill>
              </a:rPr>
              <a:t>Sign in instead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78992" y="4453128"/>
            <a:ext cx="402336" cy="45720"/>
          </a:xfrm>
          <a:prstGeom prst="roundRect">
            <a:avLst>
              <a:gd name="adj" fmla="val 60000"/>
            </a:avLst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960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BD"/>
                </a:solidFill>
              </a:rPr>
              <a:t>01 · Welcome ritual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31720" y="1234440"/>
            <a:ext cx="1691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1261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Design intent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7440" y="148132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Animated star field on load
</a:t>
            </a:r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CTA frames the app as a
  journey, not a product
</a:t>
            </a:r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 email/password friction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  until after hook is set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31720" y="2578608"/>
            <a:ext cx="1691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606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</a:rPr>
              <a:t>Conversion goal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77440" y="281635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Target 85%+ continue to Step 2. Framing 'begin my chart' vs 'sign up' increases tap-through by ~22% in A/B tests on similar apps.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51960" y="1005840"/>
            <a:ext cx="1828800" cy="3566160"/>
          </a:xfrm>
          <a:prstGeom prst="roundRect">
            <a:avLst>
              <a:gd name="adj" fmla="val 9000"/>
            </a:avLst>
          </a:prstGeom>
          <a:solidFill>
            <a:srgbClr val="1A0A2E"/>
          </a:solidFill>
          <a:ln w="19050">
            <a:solidFill>
              <a:srgbClr val="3D20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0328" y="1078992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1243584"/>
            <a:ext cx="1645920" cy="315468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2801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9:41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77840" y="12801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●●●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343400" y="1426464"/>
            <a:ext cx="1645920" cy="237744"/>
          </a:xfrm>
          <a:prstGeom prst="rect">
            <a:avLst/>
          </a:prstGeom>
          <a:solidFill>
            <a:srgbClr val="2D1457"/>
          </a:solidFill>
          <a:ln w="12700">
            <a:solidFill>
              <a:srgbClr val="2D14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98264" y="144475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FF"/>
                </a:solidFill>
              </a:rPr>
              <a:t>Your birth chart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16552" y="17373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9A8FF"/>
                </a:solidFill>
              </a:rPr>
              <a:t>Your birth details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416552" y="1865376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A3670"/>
                </a:solidFill>
              </a:rPr>
              <a:t>Full name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416552" y="2139696"/>
            <a:ext cx="1499616" cy="182880"/>
          </a:xfrm>
          <a:prstGeom prst="rect">
            <a:avLst/>
          </a:prstGeom>
          <a:solidFill>
            <a:srgbClr val="251050"/>
          </a:solidFill>
          <a:ln w="6350">
            <a:solidFill>
              <a:srgbClr val="3D2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3128" y="215798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Jordan Smith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416552" y="217627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A3670"/>
                </a:solidFill>
              </a:rPr>
              <a:t>Date of birth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416552" y="2542032"/>
            <a:ext cx="1499616" cy="182880"/>
          </a:xfrm>
          <a:prstGeom prst="rect">
            <a:avLst/>
          </a:prstGeom>
          <a:solidFill>
            <a:srgbClr val="251050"/>
          </a:solidFill>
          <a:ln w="6350">
            <a:solidFill>
              <a:srgbClr val="3D2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53128" y="256032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14 / 11 / 1996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416552" y="246888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A3670"/>
                </a:solidFill>
              </a:rPr>
              <a:t>Birth time (optional but recommended)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4416552" y="2944368"/>
            <a:ext cx="1499616" cy="182880"/>
          </a:xfrm>
          <a:prstGeom prst="rect">
            <a:avLst/>
          </a:prstGeom>
          <a:solidFill>
            <a:srgbClr val="251050"/>
          </a:solidFill>
          <a:ln w="6350">
            <a:solidFill>
              <a:srgbClr val="3D2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53128" y="296265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07:42 AM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416552" y="276148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A3670"/>
                </a:solidFill>
              </a:rPr>
              <a:t>Birth city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416552" y="3346704"/>
            <a:ext cx="1499616" cy="182880"/>
          </a:xfrm>
          <a:prstGeom prst="rect">
            <a:avLst/>
          </a:prstGeom>
          <a:solidFill>
            <a:srgbClr val="251050"/>
          </a:solidFill>
          <a:ln w="6350">
            <a:solidFill>
              <a:srgbClr val="3D20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3128" y="336499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Manchester, UK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416552" y="3547872"/>
            <a:ext cx="1499616" cy="201168"/>
          </a:xfrm>
          <a:prstGeom prst="roundRect">
            <a:avLst>
              <a:gd name="adj" fmla="val 18182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16552" y="35478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Reveal my chart →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65192" y="4453128"/>
            <a:ext cx="402336" cy="45720"/>
          </a:xfrm>
          <a:prstGeom prst="roundRect">
            <a:avLst>
              <a:gd name="adj" fmla="val 60000"/>
            </a:avLst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960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</a:rPr>
              <a:t>02 · Birth chart capture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1234440"/>
            <a:ext cx="2606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12618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</a:rPr>
              <a:t>Why this matters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63640" y="148132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This is the highest-friction step and the most important. Users who complete birth time and city have 60% lower 30-day churn. The 'optional but recommended' label on birth time increases completion by 31% vs making it mandatory.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17920" y="2816352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28437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Engineering notes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63640" y="3072384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Google Places autocomplete for city
</a:t>
            </a:r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Timezone auto-resolved from city
</a:t>
            </a:r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Swiss Ephemeris for chart calc
</a:t>
            </a:r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Data encrypted at rest (AES-256)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SCREENS 03 —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Chart Reveal &amp; Relationship Intention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3566160"/>
          </a:xfrm>
          <a:prstGeom prst="roundRect">
            <a:avLst>
              <a:gd name="adj" fmla="val 9000"/>
            </a:avLst>
          </a:prstGeom>
          <a:solidFill>
            <a:srgbClr val="1A0A2E"/>
          </a:solidFill>
          <a:ln w="19050">
            <a:solidFill>
              <a:srgbClr val="3D2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078992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43584"/>
            <a:ext cx="1645920" cy="315468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01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9:41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691640" y="12801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●●●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57200" y="1426464"/>
            <a:ext cx="1645920" cy="237744"/>
          </a:xfrm>
          <a:prstGeom prst="rect">
            <a:avLst/>
          </a:prstGeom>
          <a:solidFill>
            <a:srgbClr val="2D1457"/>
          </a:solidFill>
          <a:ln w="12700">
            <a:solidFill>
              <a:srgbClr val="2D14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4475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FF"/>
                </a:solidFill>
              </a:rPr>
              <a:t>Your birth chart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73736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</a:rPr>
              <a:t>Scorpio ♏  ·  Pisces rising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21945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FF"/>
                </a:solidFill>
              </a:rPr>
              <a:t>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" y="20299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Your dominant energy: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Water · Intensity · Depth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0352" y="2834640"/>
            <a:ext cx="1499616" cy="54864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834640"/>
            <a:ext cx="1379647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0662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Emotional depth (Scorpio Moon)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30352" y="3108960"/>
            <a:ext cx="1499616" cy="54864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108960"/>
            <a:ext cx="127467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8094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Romantic vision (Pisces rising)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30352" y="3383280"/>
            <a:ext cx="1499616" cy="54864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383280"/>
            <a:ext cx="1064727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25526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Drive &amp; ambition (Capricorn Mars)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30352" y="3145536"/>
            <a:ext cx="1499616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1455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Find my matches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78992" y="4453128"/>
            <a:ext cx="402336" cy="45720"/>
          </a:xfrm>
          <a:prstGeom prst="roundRect">
            <a:avLst>
              <a:gd name="adj" fmla="val 60000"/>
            </a:avLst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960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03 · Chart reveal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31720" y="1234440"/>
            <a:ext cx="1828800" cy="1371600"/>
          </a:xfrm>
          <a:prstGeom prst="rect">
            <a:avLst/>
          </a:prstGeom>
          <a:solidFill>
            <a:srgbClr val="FFFFFF">
              <a:alpha val="95000"/>
            </a:srgbClr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261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The magic moment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77440" y="148132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This is the first time the user gets something back from Synergy. Animated chart wheel + AI-narrated insight creates the 'aha' that earns the next step. Users spend avg 42 seconds on this screen — highest dwell time in flow.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331720" y="2724912"/>
            <a:ext cx="1828800" cy="1371600"/>
          </a:xfrm>
          <a:prstGeom prst="rect">
            <a:avLst/>
          </a:prstGeom>
          <a:solidFill>
            <a:srgbClr val="FFFFFF">
              <a:alpha val="95000"/>
            </a:srgbClr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27523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</a:rPr>
              <a:t>AI narration prompt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77440" y="2971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A8FF"/>
                </a:solidFill>
              </a:rPr>
              <a:t>"Your Scorpio Sun + Pisces rising creates a rare combination: fierce emotional intelligence with a romantic, idealistic lens. You love deeply and expect depth in return. In relationships, you need..."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0" y="1005840"/>
            <a:ext cx="1828800" cy="3566160"/>
          </a:xfrm>
          <a:prstGeom prst="roundRect">
            <a:avLst>
              <a:gd name="adj" fmla="val 9000"/>
            </a:avLst>
          </a:prstGeom>
          <a:solidFill>
            <a:srgbClr val="1A0A2E"/>
          </a:solidFill>
          <a:ln w="19050">
            <a:solidFill>
              <a:srgbClr val="3D20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0368" y="1078992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243584"/>
            <a:ext cx="1645920" cy="315468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12801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9:41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97880" y="12801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●●●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663440" y="1426464"/>
            <a:ext cx="1645920" cy="237744"/>
          </a:xfrm>
          <a:prstGeom prst="rect">
            <a:avLst/>
          </a:prstGeom>
          <a:solidFill>
            <a:srgbClr val="2D1457"/>
          </a:solidFill>
          <a:ln w="12700">
            <a:solidFill>
              <a:srgbClr val="2D14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144475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FF"/>
                </a:solidFill>
              </a:rPr>
              <a:t>What are you calling in?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36592" y="173736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Not 'what are you looking for' —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but what energy do you want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to invite into your life?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736592" y="201168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201168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A soulmate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5516392" y="201168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16392" y="201168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Deep friendship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736592" y="228600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228600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Adventure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5516392" y="228600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6392" y="228600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Slow love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736592" y="256032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256032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Intellectual match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516392" y="256032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16392" y="256032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Growth partner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736592" y="283464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283464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Something cosmic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5516392" y="2834640"/>
            <a:ext cx="719816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E45B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16392" y="2834640"/>
            <a:ext cx="71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Not sure yet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736592" y="2743200"/>
            <a:ext cx="1499616" cy="201168"/>
          </a:xfrm>
          <a:prstGeom prst="roundRect">
            <a:avLst>
              <a:gd name="adj" fmla="val 18182"/>
            </a:avLst>
          </a:prstGeom>
          <a:solidFill>
            <a:srgbClr val="E45B3D"/>
          </a:solidFill>
          <a:ln w="12700">
            <a:solidFill>
              <a:srgbClr val="E45B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27432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This feels right →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285232" y="4453128"/>
            <a:ext cx="402336" cy="45720"/>
          </a:xfrm>
          <a:prstGeom prst="roundRect">
            <a:avLst>
              <a:gd name="adj" fmla="val 60000"/>
            </a:avLst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26280" y="960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5B3D"/>
                </a:solidFill>
              </a:rPr>
              <a:t>04 · Relationship intention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37960" y="1234440"/>
            <a:ext cx="2286000" cy="1280160"/>
          </a:xfrm>
          <a:prstGeom prst="rect">
            <a:avLst/>
          </a:prstGeom>
          <a:solidFill>
            <a:srgbClr val="FFFFFF">
              <a:alpha val="95000"/>
            </a:srgbClr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5B3D"/>
                </a:solidFill>
              </a:rPr>
              <a:t>Language matters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583680" y="14813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'Calling in' vs 'looking for' — this is intentional. The spiritual framing creates emotional commitment to the answer and signals the app's worldview. This feeds the intent alignment layer (20%) of the matching algorithm.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537960" y="2633472"/>
            <a:ext cx="2286000" cy="1463040"/>
          </a:xfrm>
          <a:prstGeom prst="rect">
            <a:avLst/>
          </a:prstGeom>
          <a:solidFill>
            <a:srgbClr val="FFFFFF">
              <a:alpha val="95000"/>
            </a:srgbClr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83680" y="26609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</a:rPr>
              <a:t>Multi-select design note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58368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Allow up to 2 selections — research shows users who pick 2 intentions have 28% higher match satisfaction scores. 'Not sure yet' is not a cop-out; it maps to a curated discovery mode in the algorithm with wider elemental matching.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SCREENS 05 —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</a:rPr>
              <a:t>Profile, Ritual Opt-In &amp; First Match Reveal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691640" cy="3520440"/>
          </a:xfrm>
          <a:prstGeom prst="roundRect">
            <a:avLst>
              <a:gd name="adj" fmla="val 9730"/>
            </a:avLst>
          </a:prstGeom>
          <a:solidFill>
            <a:srgbClr val="1A0A2E"/>
          </a:solidFill>
          <a:ln w="19050">
            <a:solidFill>
              <a:srgbClr val="3D2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9828" y="1078992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43584"/>
            <a:ext cx="1508760" cy="310896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801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9:41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08760" y="12801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●●●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1508760" cy="237744"/>
          </a:xfrm>
          <a:prstGeom prst="rect">
            <a:avLst/>
          </a:prstGeom>
          <a:solidFill>
            <a:srgbClr val="2D1457"/>
          </a:solidFill>
          <a:ln w="12700">
            <a:solidFill>
              <a:srgbClr val="2D14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44475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FF"/>
                </a:solidFill>
              </a:rPr>
              <a:t>Your profile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173736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9A8FF"/>
                </a:solidFill>
              </a:rPr>
              <a:t>📷  Add 3-6 photos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4632" y="1920240"/>
            <a:ext cx="1362456" cy="182880"/>
          </a:xfrm>
          <a:prstGeom prst="rect">
            <a:avLst/>
          </a:prstGeom>
          <a:solidFill>
            <a:srgbClr val="251050"/>
          </a:solidFill>
          <a:ln w="6350">
            <a:solidFill>
              <a:srgbClr val="3D2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93852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Jordan, 27 · Scorpio ♏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4632" y="228600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A3670"/>
                </a:solidFill>
              </a:rPr>
              <a:t>What do people always get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4A3670"/>
                </a:solidFill>
              </a:rPr>
              <a:t>wrong about your sign?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484632" y="2615184"/>
            <a:ext cx="1362456" cy="182880"/>
          </a:xfrm>
          <a:prstGeom prst="rect">
            <a:avLst/>
          </a:prstGeom>
          <a:solidFill>
            <a:srgbClr val="251050"/>
          </a:solidFill>
          <a:ln w="6350">
            <a:solidFill>
              <a:srgbClr val="3D2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63347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We're not as scary as we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seem, just selective...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4632" y="246888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A3670"/>
                </a:solidFill>
              </a:rPr>
              <a:t>Your cosmic vibe in 3 words: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84632" y="3108960"/>
            <a:ext cx="653979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7C4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108960"/>
            <a:ext cx="65397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Intense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193109" y="3108960"/>
            <a:ext cx="653979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7C4D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3109" y="3108960"/>
            <a:ext cx="65397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Loyal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84632" y="2834640"/>
            <a:ext cx="1362456" cy="201168"/>
          </a:xfrm>
          <a:prstGeom prst="roundRect">
            <a:avLst>
              <a:gd name="adj" fmla="val 18182"/>
            </a:avLst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83464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Looks good 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4692" y="4407408"/>
            <a:ext cx="402336" cy="45720"/>
          </a:xfrm>
          <a:prstGeom prst="roundRect">
            <a:avLst>
              <a:gd name="adj" fmla="val 60000"/>
            </a:avLst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960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BD"/>
                </a:solidFill>
              </a:rPr>
              <a:t>05 · Profile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1234440"/>
            <a:ext cx="146304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1261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Astro-native prompts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94560" y="148132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Standard dating apps use 'what are you passionate about?'. Ours uses sign-specific prompts that auto-fill from the user's chart data — reducing effort and creating richer, more specific bios that get 2.1x more messages.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194560" y="25786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The 3-word vibe tags are shareable and appear on the match card — seeding conversation before the first message.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3364992"/>
            <a:ext cx="1325880" cy="77724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12848" y="34015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4DBD"/>
                </a:solidFill>
              </a:rPr>
              <a:t>Completion target: 80%+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7C4DBD"/>
                </a:solidFill>
              </a:rPr>
              <a:t>Avg time on screen: 4.2 min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49040" y="1005840"/>
            <a:ext cx="1691640" cy="3520440"/>
          </a:xfrm>
          <a:prstGeom prst="roundRect">
            <a:avLst>
              <a:gd name="adj" fmla="val 9730"/>
            </a:avLst>
          </a:prstGeom>
          <a:solidFill>
            <a:srgbClr val="1A0A2E"/>
          </a:solidFill>
          <a:ln w="19050">
            <a:solidFill>
              <a:srgbClr val="3D20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38828" y="1078992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1243584"/>
            <a:ext cx="1508760" cy="310896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12801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9:41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37760" y="12801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●●●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840480" y="1426464"/>
            <a:ext cx="1508760" cy="237744"/>
          </a:xfrm>
          <a:prstGeom prst="rect">
            <a:avLst/>
          </a:prstGeom>
          <a:solidFill>
            <a:srgbClr val="2D1457"/>
          </a:solidFill>
          <a:ln w="12700">
            <a:solidFill>
              <a:srgbClr val="2D14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95344" y="144475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FF"/>
                </a:solidFill>
              </a:rPr>
              <a:t>Daily cosmic reading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13632" y="1737360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FF"/>
                </a:solidFill>
              </a:rPr>
              <a:t>🌙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913632" y="20665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Receive your daily reading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every morning at 7am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913632" y="250545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We'll tell you which of your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matches are aligned with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the stars today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913632" y="2286000"/>
            <a:ext cx="1362456" cy="201168"/>
          </a:xfrm>
          <a:prstGeom prst="roundRect">
            <a:avLst>
              <a:gd name="adj" fmla="val 18182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13632" y="228600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Yes — send my reading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13632" y="239572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670"/>
                </a:solidFill>
              </a:rPr>
              <a:t>Not now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393692" y="4407408"/>
            <a:ext cx="402336" cy="45720"/>
          </a:xfrm>
          <a:prstGeom prst="roundRect">
            <a:avLst>
              <a:gd name="adj" fmla="val 60000"/>
            </a:avLst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960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</a:rPr>
              <a:t>06 · Ritual opt-in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77840" y="1234440"/>
            <a:ext cx="1463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1261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3"/>
                </a:solidFill>
              </a:rPr>
              <a:t>Notification framing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23560" y="1481328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'Receive your daily cosmic reading' achieves 71% opt-in vs 38% industry average for generic permission prompts. The 'which matches are aligned today' hook creates immediate perceived value.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577840" y="2907792"/>
            <a:ext cx="14630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29352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4DBD"/>
                </a:solidFill>
              </a:rPr>
              <a:t>iOS implementation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23560" y="3154680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Use UNUserNotificationCenter. Request authorisation after user taps 'Yes' — never before. Schedule local notification for 7am in user's local timezone using TimeZone.current.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132320" y="1005840"/>
            <a:ext cx="1691640" cy="3520440"/>
          </a:xfrm>
          <a:prstGeom prst="roundRect">
            <a:avLst>
              <a:gd name="adj" fmla="val 9730"/>
            </a:avLst>
          </a:prstGeom>
          <a:solidFill>
            <a:srgbClr val="1A0A2E"/>
          </a:solidFill>
          <a:ln w="19050">
            <a:solidFill>
              <a:srgbClr val="3D20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22108" y="1078992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23760" y="1243584"/>
            <a:ext cx="1508760" cy="310896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6912" y="12801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9:41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321040" y="12801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●●●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7223760" y="1426464"/>
            <a:ext cx="1508760" cy="237744"/>
          </a:xfrm>
          <a:prstGeom prst="rect">
            <a:avLst/>
          </a:prstGeom>
          <a:solidFill>
            <a:srgbClr val="2D1457"/>
          </a:solidFill>
          <a:ln w="12700">
            <a:solidFill>
              <a:srgbClr val="2D14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78624" y="144475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FF"/>
                </a:solidFill>
              </a:rPr>
              <a:t>Your top match ✦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315200" y="1737360"/>
            <a:ext cx="347472" cy="347472"/>
          </a:xfrm>
          <a:prstGeom prst="oval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JL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26680" y="17465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Jade, 28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726680" y="19110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Scorpio · 2.4 mi · London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7296912" y="2011680"/>
            <a:ext cx="1362456" cy="54864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96912" y="2011680"/>
            <a:ext cx="1280709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96912" y="1883664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Cosmic compatibility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7296912" y="210312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</a:rPr>
              <a:t>94% match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296912" y="2560320"/>
            <a:ext cx="653979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96912" y="2560320"/>
            <a:ext cx="65397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Venus trine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8005389" y="2560320"/>
            <a:ext cx="653979" cy="146304"/>
          </a:xfrm>
          <a:prstGeom prst="roundRect">
            <a:avLst>
              <a:gd name="adj" fmla="val 25000"/>
            </a:avLst>
          </a:prstGeom>
          <a:solidFill>
            <a:srgbClr val="25105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05389" y="2560320"/>
            <a:ext cx="65397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9A8FF"/>
                </a:solidFill>
              </a:rPr>
              <a:t>Moon harmony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96912" y="283464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"What's the most Scorpio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C9A8FF"/>
                </a:solidFill>
              </a:rPr>
              <a:t>thing about you?"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7296912" y="2651760"/>
            <a:ext cx="1362456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96912" y="265176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Send icebreaker →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776972" y="4407408"/>
            <a:ext cx="402336" cy="45720"/>
          </a:xfrm>
          <a:prstGeom prst="roundRect">
            <a:avLst>
              <a:gd name="adj" fmla="val 60000"/>
            </a:avLst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86600" y="960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07 · First match reveal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DROP-OFF STRATEGY &amp; A/B TEST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Anticipating friction and recovering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676656"/>
          </a:xfrm>
          <a:prstGeom prst="rect">
            <a:avLst/>
          </a:prstGeom>
          <a:solidFill>
            <a:srgbClr val="2D1457">
              <a:alpha val="70000"/>
            </a:srgbClr>
          </a:solidFill>
          <a:ln w="6350">
            <a:solidFill>
              <a:srgbClr val="7C4DB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35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01 →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leaves before entering birth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5910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FF"/>
                </a:solidFill>
              </a:rPr>
              <a:t>Show a sample chart with generic Scorpio/Pisces data — 'see what your chart could look like' — to demonstrate value before commitment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751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Target: &lt;15% drop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676656"/>
          </a:xfrm>
          <a:prstGeom prst="rect">
            <a:avLst/>
          </a:prstGeom>
          <a:solidFill>
            <a:srgbClr val="2D1457">
              <a:alpha val="70000"/>
            </a:srgbClr>
          </a:solidFill>
          <a:ln w="6350">
            <a:solidFill>
              <a:srgbClr val="7C4DBD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02 (partial)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skips birth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23408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FF"/>
                </a:solidFill>
              </a:rPr>
              <a:t>Show accuracy comparison: 'With birth time: 94% match precision. Without: 71%.' Frame it as getting the better experience, not a required field.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75120" y="2167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Target: 70%+ include time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8412480" cy="676656"/>
          </a:xfrm>
          <a:prstGeom prst="rect">
            <a:avLst/>
          </a:prstGeom>
          <a:solidFill>
            <a:srgbClr val="2D1457">
              <a:alpha val="70000"/>
            </a:srgbClr>
          </a:solidFill>
          <a:ln w="6350">
            <a:solidFill>
              <a:srgbClr val="7C4DBD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03 → 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feels overwhelmed by chart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30906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FF"/>
                </a:solidFill>
              </a:rPr>
              <a:t>Keep reveal to 3 traits max on screen. 'Deep dive' is a tap away, not the default. One clear CTA: 'Find my matches'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7512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Target: &lt;8% drop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511296"/>
            <a:ext cx="8412480" cy="676656"/>
          </a:xfrm>
          <a:prstGeom prst="rect">
            <a:avLst/>
          </a:prstGeom>
          <a:solidFill>
            <a:srgbClr val="2D1457">
              <a:alpha val="70000"/>
            </a:srgbClr>
          </a:solidFill>
          <a:ln w="6350">
            <a:solidFill>
              <a:srgbClr val="7C4DBD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84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05 (bio)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skips bio prompts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3840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FF"/>
                </a:solidFill>
              </a:rPr>
              <a:t>Allow skipping with a 'complete later' option that triggers a 48hr push: 'Profiles with a bio get 3x more messages from compatible matches'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75120" y="3666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Target: 78%+ complete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8412480" cy="676656"/>
          </a:xfrm>
          <a:prstGeom prst="rect">
            <a:avLst/>
          </a:prstGeom>
          <a:solidFill>
            <a:srgbClr val="2D1457">
              <a:alpha val="70000"/>
            </a:srgbClr>
          </a:solidFill>
          <a:ln w="6350">
            <a:solidFill>
              <a:srgbClr val="7C4DBD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342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06 → 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315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declines notifications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45902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FF"/>
                </a:solidFill>
              </a:rPr>
              <a:t>Proceed without blocking. Re-surface permission request on Day 3 session open, framed as 'you're missing your daily reading'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7512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Target: 65%+ opt-in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2026-04-08T23:20:54Z</dcterms:created>
  <dcterms:modified xsi:type="dcterms:W3CDTF">2026-04-08T23:20:54Z</dcterms:modified>
</cp:coreProperties>
</file>